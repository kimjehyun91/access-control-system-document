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4"/>
  </p:notesMasterIdLst>
  <p:handoutMasterIdLst>
    <p:handoutMasterId r:id="rId15"/>
  </p:handoutMasterIdLst>
  <p:sldIdLst>
    <p:sldId id="257" r:id="rId2"/>
    <p:sldId id="271" r:id="rId3"/>
    <p:sldId id="272" r:id="rId4"/>
    <p:sldId id="273" r:id="rId5"/>
    <p:sldId id="274" r:id="rId6"/>
    <p:sldId id="276" r:id="rId7"/>
    <p:sldId id="275" r:id="rId8"/>
    <p:sldId id="277" r:id="rId9"/>
    <p:sldId id="278" r:id="rId10"/>
    <p:sldId id="280" r:id="rId11"/>
    <p:sldId id="279" r:id="rId12"/>
    <p:sldId id="281" r:id="rId13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C0B70AE-3AB2-4E37-8EF0-84867EAD711B}" type="datetimeFigureOut">
              <a:rPr lang="ko-KR" altLang="en-US" smtClean="0"/>
              <a:t>2023-03-20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D4CF93C2-0053-4673-AD4F-698DDC456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55784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BE75DFF8-FF30-448A-9D92-1330BF838B20}" type="datetimeFigureOut">
              <a:rPr lang="ko-KR" altLang="en-US" smtClean="0"/>
              <a:t>2023-03-20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323202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377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3/20/2023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616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3/20/2023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034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555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25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110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2290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54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108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01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16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2131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3/20/2023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43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717563"/>
              </p:ext>
            </p:extLst>
          </p:nvPr>
        </p:nvGraphicFramePr>
        <p:xfrm>
          <a:off x="4793099" y="4599789"/>
          <a:ext cx="2514600" cy="107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  <a:gridCol w="838200"/>
              </a:tblGrid>
              <a:tr h="2431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작성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검토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승인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17184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직사각형 23"/>
          <p:cNvSpPr/>
          <p:nvPr/>
        </p:nvSpPr>
        <p:spPr>
          <a:xfrm>
            <a:off x="9740786" y="660818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9816716" y="6784975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950" y="6309704"/>
            <a:ext cx="1260000" cy="4000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7631" y="3452027"/>
            <a:ext cx="4195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리더기용 사용자 카드 발급 매뉴얼</a:t>
            </a:r>
            <a:endParaRPr lang="ko-KR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1193800" y="3950592"/>
            <a:ext cx="10559208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6832600" y="3913692"/>
            <a:ext cx="4920408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574480" y="4061627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품질관리팀</a:t>
            </a:r>
            <a:endParaRPr lang="ko-KR" altLang="en-US" b="1" dirty="0">
              <a:solidFill>
                <a:schemeClr val="tx1">
                  <a:lumMod val="50000"/>
                  <a:lumOff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836646" y="752277"/>
            <a:ext cx="6624736" cy="12241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4000" b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출입 카드 발급 매뉴얼</a:t>
            </a:r>
            <a:endParaRPr lang="ko-KR" altLang="en-US" sz="4000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603" y="5045529"/>
            <a:ext cx="777647" cy="44087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66" y="5077641"/>
            <a:ext cx="561975" cy="400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871" y="6507976"/>
            <a:ext cx="49638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※ </a:t>
            </a:r>
            <a:r>
              <a:rPr lang="ko-KR" altLang="en-US" sz="1200" b="1" dirty="0" smtClean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해당 기능은 </a:t>
            </a:r>
            <a:r>
              <a:rPr lang="en-US" altLang="ko-KR" sz="1200" b="1" dirty="0" smtClean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VIACS v2.10.0 </a:t>
            </a:r>
            <a:r>
              <a:rPr lang="ko-KR" altLang="en-US" sz="1200" b="1" dirty="0" smtClean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버전부터 사용 가능합니다</a:t>
            </a:r>
            <a:r>
              <a:rPr lang="en-US" altLang="ko-KR" sz="1200" b="1" dirty="0" smtClean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sz="1200" b="1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693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 초기화 방법 </a:t>
            </a:r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85166" y="855458"/>
            <a:ext cx="439124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초기화할 카드를 카드 리더기에 꼽고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스마트카드 초기화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프로그램을 실행시킨다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2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Connect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리더기에 꼽힌 카드정보를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불러온다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3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Connect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불량이 발생되면 빨간색으로 경고문구가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이때 카드를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리더기에서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뺏다가 다시 꼽는다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4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정상적으로 연결되면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Connect successful.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문구가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rcRect t="11005" b="16410"/>
          <a:stretch/>
        </p:blipFill>
        <p:spPr>
          <a:xfrm>
            <a:off x="370794" y="855458"/>
            <a:ext cx="847725" cy="905692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rcRect l="792"/>
          <a:stretch/>
        </p:blipFill>
        <p:spPr>
          <a:xfrm>
            <a:off x="1373105" y="853832"/>
            <a:ext cx="6090142" cy="1926638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5"/>
          <a:srcRect l="630" r="506"/>
          <a:stretch/>
        </p:blipFill>
        <p:spPr>
          <a:xfrm>
            <a:off x="370794" y="3020061"/>
            <a:ext cx="7410995" cy="32385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96"/>
          <a:stretch/>
        </p:blipFill>
        <p:spPr>
          <a:xfrm>
            <a:off x="8006043" y="3933547"/>
            <a:ext cx="2149519" cy="232501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155562" y="5906460"/>
            <a:ext cx="160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 리더기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353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/>
          <p:cNvSpPr/>
          <p:nvPr/>
        </p:nvSpPr>
        <p:spPr>
          <a:xfrm>
            <a:off x="216209" y="714382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 초기화 방법 </a:t>
            </a:r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88218" y="2240453"/>
            <a:ext cx="4391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※ Package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 작업을 할 때 빨간색으로 경고문구가 나온다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(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참고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1)</a:t>
            </a:r>
          </a:p>
          <a:p>
            <a:r>
              <a:rPr lang="en-US" altLang="ko-KR" sz="1200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Refresh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눌러 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A0 00 00 00 03 53 50 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값만 나온다면</a:t>
            </a:r>
            <a:endParaRPr lang="en-US" altLang="ko-KR" sz="1200" dirty="0" smtClean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200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정상적으로 작업이 된 것이다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200" dirty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rcRect l="447"/>
          <a:stretch/>
        </p:blipFill>
        <p:spPr>
          <a:xfrm>
            <a:off x="363003" y="822034"/>
            <a:ext cx="7192981" cy="2322412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/>
          <a:srcRect l="309" r="604"/>
          <a:stretch/>
        </p:blipFill>
        <p:spPr>
          <a:xfrm>
            <a:off x="371712" y="3313175"/>
            <a:ext cx="7192977" cy="2367566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712" y="6032671"/>
            <a:ext cx="5353050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85166" y="855458"/>
            <a:ext cx="43912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4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Applet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메뉴에서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Refresh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눌러 카드에 등록된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정보를 불러오고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Remove All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눌러 정보를 삭제한다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5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동일하게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Package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메뉴에서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Refresh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눌러 카드에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등록된 정보를 불러오고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Remove All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눌러 정보를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삭제한다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55776" y="5994183"/>
            <a:ext cx="160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[[[ 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출력된 경고문구 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]]]</a:t>
            </a:r>
            <a:endParaRPr lang="en-US" altLang="ko-KR" sz="1200" dirty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38575" y="5770972"/>
            <a:ext cx="160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참고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1.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736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216209" y="714382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 초기화 방법 </a:t>
            </a:r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85166" y="855458"/>
            <a:ext cx="4391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6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Manager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메뉴에서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Cap File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눌러 카드에 등록할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Cap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불러온다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rcRect l="703" t="1634" r="800" b="-1"/>
          <a:stretch/>
        </p:blipFill>
        <p:spPr>
          <a:xfrm>
            <a:off x="376459" y="855458"/>
            <a:ext cx="7154459" cy="249936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4"/>
          <a:srcRect t="1465" b="1"/>
          <a:stretch/>
        </p:blipFill>
        <p:spPr>
          <a:xfrm>
            <a:off x="6084956" y="4121364"/>
            <a:ext cx="2555450" cy="1697534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5742" y="4121364"/>
            <a:ext cx="1933575" cy="1711797"/>
          </a:xfrm>
          <a:prstGeom prst="rect">
            <a:avLst/>
          </a:prstGeom>
        </p:spPr>
      </p:pic>
      <p:grpSp>
        <p:nvGrpSpPr>
          <p:cNvPr id="4" name="그룹 3"/>
          <p:cNvGrpSpPr/>
          <p:nvPr/>
        </p:nvGrpSpPr>
        <p:grpSpPr>
          <a:xfrm>
            <a:off x="376458" y="3661641"/>
            <a:ext cx="5486402" cy="2068341"/>
            <a:chOff x="376458" y="3548424"/>
            <a:chExt cx="5486402" cy="2068341"/>
          </a:xfrm>
        </p:grpSpPr>
        <p:pic>
          <p:nvPicPr>
            <p:cNvPr id="15" name="그림 14"/>
            <p:cNvPicPr>
              <a:picLocks noChangeAspect="1"/>
            </p:cNvPicPr>
            <p:nvPr/>
          </p:nvPicPr>
          <p:blipFill rotWithShape="1">
            <a:blip r:embed="rId6"/>
            <a:srcRect l="278" t="7327" r="941" b="34903"/>
            <a:stretch/>
          </p:blipFill>
          <p:spPr>
            <a:xfrm>
              <a:off x="376459" y="3548424"/>
              <a:ext cx="5486401" cy="1772513"/>
            </a:xfrm>
            <a:prstGeom prst="rect">
              <a:avLst/>
            </a:prstGeom>
          </p:spPr>
        </p:pic>
        <p:pic>
          <p:nvPicPr>
            <p:cNvPr id="19" name="그림 18"/>
            <p:cNvPicPr>
              <a:picLocks noChangeAspect="1"/>
            </p:cNvPicPr>
            <p:nvPr/>
          </p:nvPicPr>
          <p:blipFill rotWithShape="1">
            <a:blip r:embed="rId6"/>
            <a:srcRect l="278" t="89791" r="941"/>
            <a:stretch/>
          </p:blipFill>
          <p:spPr>
            <a:xfrm>
              <a:off x="376458" y="5303510"/>
              <a:ext cx="5486401" cy="313255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/>
        </p:nvSpPr>
        <p:spPr>
          <a:xfrm>
            <a:off x="7759604" y="1346493"/>
            <a:ext cx="3976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※ 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이때 카드 종류에 맞게 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Cap 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선택한다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(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참고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2, 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참고</a:t>
            </a:r>
            <a:r>
              <a:rPr lang="en-US" altLang="ko-KR" sz="1200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lang="en-US" altLang="ko-KR" sz="1200" dirty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85166" y="1782900"/>
            <a:ext cx="4391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7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Download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Cap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카드에 넣어준다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정상적으로 들어갔으면 다음과 같은 문구가 나온다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(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참고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4)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35800" y="5460740"/>
            <a:ext cx="160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참고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정상 문구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55051" y="5833161"/>
            <a:ext cx="160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참고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 Cap File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19582" y="5833161"/>
            <a:ext cx="1853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참고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 별 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Cap File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1001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 초기화 방법 </a:t>
            </a:r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/>
          <a:srcRect l="703" t="1634" r="800" b="-1"/>
          <a:stretch/>
        </p:blipFill>
        <p:spPr>
          <a:xfrm>
            <a:off x="376459" y="855458"/>
            <a:ext cx="7154459" cy="249936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4"/>
          <a:srcRect l="713" t="1340" r="904" b="1970"/>
          <a:stretch/>
        </p:blipFill>
        <p:spPr>
          <a:xfrm>
            <a:off x="376459" y="3888239"/>
            <a:ext cx="3326676" cy="2589945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5"/>
          <a:srcRect t="845" r="1030" b="1828"/>
          <a:stretch/>
        </p:blipFill>
        <p:spPr>
          <a:xfrm>
            <a:off x="3863385" y="3891739"/>
            <a:ext cx="3346540" cy="2586446"/>
          </a:xfrm>
          <a:prstGeom prst="rect">
            <a:avLst/>
          </a:prstGeom>
        </p:spPr>
      </p:pic>
      <p:pic>
        <p:nvPicPr>
          <p:cNvPr id="21" name="내용 개체 틀 5"/>
          <p:cNvPicPr>
            <a:picLocks noChangeAspect="1"/>
          </p:cNvPicPr>
          <p:nvPr/>
        </p:nvPicPr>
        <p:blipFill rotWithShape="1">
          <a:blip r:embed="rId6"/>
          <a:srcRect l="444" t="90866" r="577"/>
          <a:stretch/>
        </p:blipFill>
        <p:spPr>
          <a:xfrm>
            <a:off x="347934" y="3354818"/>
            <a:ext cx="7182984" cy="397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60385" y="3394837"/>
            <a:ext cx="160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참고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5. </a:t>
            </a:r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정상 문구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85166" y="855458"/>
            <a:ext cx="439124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8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Install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Cap File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설치한다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9.    Install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설정창이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뜨면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Parameter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“05”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CVM </a:t>
            </a:r>
            <a:r>
              <a:rPr lang="en-US" altLang="ko-KR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Mangement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체크를 해준다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10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정상적으로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인스톨되면 다음과 같은 문구가 나온다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(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참고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5)</a:t>
            </a:r>
          </a:p>
        </p:txBody>
      </p:sp>
    </p:spTree>
    <p:extLst>
      <p:ext uri="{BB962C8B-B14F-4D97-AF65-F5344CB8AC3E}">
        <p14:creationId xmlns:p14="http://schemas.microsoft.com/office/powerpoint/2010/main" val="317224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 초기화 방법 </a:t>
            </a:r>
            <a:r>
              <a:rPr lang="en-US" altLang="ko-KR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5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85166" y="855458"/>
            <a:ext cx="4391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11.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카드가 정상적으로 초기화 되었으면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Reader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메뉴로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돌아와서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Disconnect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연결을 끊고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카드리더기에서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카드를 분리해 준다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rcRect l="559" r="810"/>
          <a:stretch/>
        </p:blipFill>
        <p:spPr>
          <a:xfrm>
            <a:off x="365761" y="829331"/>
            <a:ext cx="7187174" cy="3148092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8" t="4571" r="9694" b="9714"/>
          <a:stretch/>
        </p:blipFill>
        <p:spPr>
          <a:xfrm>
            <a:off x="7800147" y="3010521"/>
            <a:ext cx="2269879" cy="308283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309" y="5827098"/>
            <a:ext cx="1715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카드리더기에서</a:t>
            </a:r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카드 분리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897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정보 삽입 준비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85166" y="855458"/>
            <a:ext cx="43912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My SQL Workbench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실행시켜서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서버를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실행시킨다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2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프로그램을 종료시키지 말고 최소화 시켜준다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3.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다음 작업으로 넘어간다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rcRect b="7032"/>
          <a:stretch/>
        </p:blipFill>
        <p:spPr>
          <a:xfrm>
            <a:off x="6823166" y="849483"/>
            <a:ext cx="762000" cy="929799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/>
          <a:srcRect r="16742"/>
          <a:stretch/>
        </p:blipFill>
        <p:spPr>
          <a:xfrm>
            <a:off x="254000" y="849483"/>
            <a:ext cx="6416981" cy="274521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94" y="3663889"/>
            <a:ext cx="6399446" cy="282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23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정보 삽입 </a:t>
            </a:r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85166" y="855458"/>
            <a:ext cx="4391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카드리더기에 업체정보가 담긴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Master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카드를 꼽고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en-US" altLang="ko-KR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GreenITIssuer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프로그램을 실행시킨다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rcRect r="10649" b="8636"/>
          <a:stretch/>
        </p:blipFill>
        <p:spPr>
          <a:xfrm>
            <a:off x="405446" y="855458"/>
            <a:ext cx="748945" cy="88764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rcRect l="2196" t="2878" r="2383" b="2106"/>
          <a:stretch/>
        </p:blipFill>
        <p:spPr>
          <a:xfrm>
            <a:off x="1453527" y="850502"/>
            <a:ext cx="2081349" cy="1384663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5"/>
          <a:srcRect l="1673" t="1568" r="1577" b="3618"/>
          <a:stretch/>
        </p:blipFill>
        <p:spPr>
          <a:xfrm>
            <a:off x="3834012" y="850501"/>
            <a:ext cx="1978090" cy="1384663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rcRect l="452" t="1030" r="549"/>
          <a:stretch/>
        </p:blipFill>
        <p:spPr>
          <a:xfrm>
            <a:off x="405446" y="2368909"/>
            <a:ext cx="6932607" cy="39023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59604" y="1346493"/>
            <a:ext cx="3976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※ 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이때 연결이 불량하면 </a:t>
            </a:r>
            <a:r>
              <a:rPr lang="ko-KR" altLang="en-US" sz="1200" dirty="0" err="1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경고창이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뜬다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(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참고 </a:t>
            </a:r>
            <a:r>
              <a:rPr lang="en-US" altLang="ko-KR" sz="1200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6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lang="en-US" altLang="ko-KR" sz="1200" dirty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12102" y="1958165"/>
            <a:ext cx="1715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참고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6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연결 불량 </a:t>
            </a:r>
            <a:r>
              <a:rPr lang="ko-KR" altLang="en-US" sz="12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경고창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05636" y="1792815"/>
            <a:ext cx="439124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User ID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Password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입력한다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User ID : admin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Password : admin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3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정상적으로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로그인되면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업체 정보 관리 메뉴에서 카드에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등록할 업체를 선택한다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2245" y="3373787"/>
            <a:ext cx="3976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※ 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신규 업체면 업체 정보 생성을 눌러 업체 정보를 등록한다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200" dirty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83" t="23439" r="23781" b="17173"/>
          <a:stretch/>
        </p:blipFill>
        <p:spPr>
          <a:xfrm>
            <a:off x="7585166" y="3883235"/>
            <a:ext cx="1567543" cy="24470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52709" y="6095759"/>
            <a:ext cx="1715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 Master </a:t>
            </a:r>
            <a:r>
              <a:rPr lang="ko-KR" altLang="en-US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</a:t>
            </a:r>
            <a:r>
              <a:rPr lang="en-US" altLang="ko-KR" sz="12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&gt;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2417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정보 삽입 </a:t>
            </a:r>
            <a:r>
              <a:rPr lang="en-US" altLang="ko-KR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85166" y="855458"/>
            <a:ext cx="439124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4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ID Card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발급 메뉴로 들어가서 엑셀 파일 가져오기를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누른다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5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창이 새로 열리면 카드에 넣을 정보가 입력된 엑셀파일을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불러온다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/>
          <a:srcRect r="547" b="949"/>
          <a:stretch/>
        </p:blipFill>
        <p:spPr>
          <a:xfrm>
            <a:off x="341326" y="855458"/>
            <a:ext cx="7123520" cy="3990817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4"/>
          <a:srcRect l="1439" t="847" r="480"/>
          <a:stretch/>
        </p:blipFill>
        <p:spPr>
          <a:xfrm>
            <a:off x="7585166" y="2803840"/>
            <a:ext cx="4153246" cy="303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0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정보 삽입 </a:t>
            </a:r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69572" y="855458"/>
            <a:ext cx="52599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6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정보를 집어넣을 카드를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SMART-SID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집어넣는다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buAutoNum type="arabicPeriod" startAt="6"/>
            </a:pP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6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카드는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IC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칩이 안쪽으로 가도록 하고 대량일 경우 차례로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쌓아준다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1" r="6631" b="1575"/>
          <a:stretch/>
        </p:blipFill>
        <p:spPr>
          <a:xfrm>
            <a:off x="418011" y="855458"/>
            <a:ext cx="3518263" cy="55223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99713" y="4155197"/>
            <a:ext cx="4154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※ 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 투입구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인쇄 순서 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하단 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투입카드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부터 상단 카드 순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lang="en-US" altLang="ko-KR" sz="1200" dirty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06490" y="5954854"/>
            <a:ext cx="4154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※ 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 </a:t>
            </a:r>
            <a:r>
              <a:rPr lang="ko-KR" altLang="en-US" sz="1200" dirty="0" err="1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발급처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200" dirty="0" err="1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완료시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카드가 순차적으로 쌓인다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200" dirty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90262" y="3116869"/>
            <a:ext cx="1747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※ 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안내 문구 확인 필수 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※</a:t>
            </a:r>
            <a:endParaRPr lang="en-US" altLang="ko-KR" sz="1200" dirty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 flipV="1">
            <a:off x="1306286" y="2603865"/>
            <a:ext cx="0" cy="1759131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74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정보 삽입 </a:t>
            </a:r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85166" y="855458"/>
            <a:ext cx="439124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8.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템플릿 선택에서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가로 기본 양식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선택하여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불러온 엑셀의 정보가 나오는지 확인한다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9.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카드에 집어넣을 정보를 선택한 뒤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선택 발급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＂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눌러준다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rcRect t="1445" r="531"/>
          <a:stretch/>
        </p:blipFill>
        <p:spPr>
          <a:xfrm>
            <a:off x="321922" y="855458"/>
            <a:ext cx="7222303" cy="256154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rcRect b="810"/>
          <a:stretch/>
        </p:blipFill>
        <p:spPr>
          <a:xfrm>
            <a:off x="736042" y="2399327"/>
            <a:ext cx="6994951" cy="392665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1934" y="1991429"/>
            <a:ext cx="3976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※ 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대량 발급이면 정보를 모두 선택하고 전체 발급을 누른다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200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</a:t>
            </a:r>
            <a:r>
              <a:rPr lang="ko-KR" altLang="en-US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상단 정보부터 순차적으로 카드에 입력된다</a:t>
            </a:r>
            <a:r>
              <a:rPr lang="en-US" altLang="ko-KR" sz="12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200" dirty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5"/>
          <a:srcRect l="1650" t="1467" r="1731" b="3668"/>
          <a:stretch/>
        </p:blipFill>
        <p:spPr>
          <a:xfrm>
            <a:off x="7872549" y="5123563"/>
            <a:ext cx="2107474" cy="120178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5166" y="2565242"/>
            <a:ext cx="4391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10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 발급이 완료되면 안내 문구가 나온다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확인을 눌러 마무리 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333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정리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57150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48343" y="890291"/>
            <a:ext cx="613083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작업이 완료되면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첫번째로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카드리더기에서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Master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카드를 분리한다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Master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카드는 제자리에 정리하여 준다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SMART-SID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전원을 종료하고 정리한다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카드리더기도 제자리에 정리하여 준다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0659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728</TotalTime>
  <Words>583</Words>
  <Application>Microsoft Office PowerPoint</Application>
  <PresentationFormat>와이드스크린</PresentationFormat>
  <Paragraphs>120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나눔스퀘어_ac Bold</vt:lpstr>
      <vt:lpstr>나눔스퀘어라운드 ExtraBold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WD</dc:creator>
  <cp:lastModifiedBy>WD</cp:lastModifiedBy>
  <cp:revision>124</cp:revision>
  <dcterms:created xsi:type="dcterms:W3CDTF">2021-10-01T00:38:29Z</dcterms:created>
  <dcterms:modified xsi:type="dcterms:W3CDTF">2023-03-20T09:04:10Z</dcterms:modified>
</cp:coreProperties>
</file>